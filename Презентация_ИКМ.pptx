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66548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28595"/>
            <a:ext cx="106984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rial" panose="020B0604020202020204"/>
              </a:defRPr>
            </a:pPr>
            <a:r>
              <a:rPr lang="ru-RU"/>
              <a:t>по предмету «Язык програмированния </a:t>
            </a:r>
            <a:r>
              <a:rPr lang="en-US"/>
              <a:t>Python</a:t>
            </a:r>
            <a:r>
              <a:rPr lang="ru-RU"/>
              <a:t>» </a:t>
            </a:r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731520" y="196850"/>
            <a:ext cx="10698480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5F1ED"/>
                </a:solidFill>
                <a:latin typeface="Arial" panose="020B0604020202020204"/>
              </a:defRPr>
            </a:pPr>
            <a:r>
              <a:rPr>
                <a:sym typeface="+mn-ea"/>
              </a:rPr>
              <a:t>ИНДИВИДУАЛЬНЫЙ</a:t>
            </a:r>
            <a:r>
              <a:rPr lang="en-US">
                <a:sym typeface="+mn-ea"/>
              </a:rPr>
              <a:t> </a:t>
            </a:r>
            <a:r>
              <a:t>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3760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 panose="020B0604020202020204"/>
              </a:defRPr>
            </a:pPr>
            <a:r>
              <a:t>Задачи 4 и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3DD"/>
                </a:solidFill>
                <a:latin typeface="Arial" panose="020B0604020202020204"/>
              </a:defRPr>
            </a:pPr>
            <a:r>
              <a:rPr lang="ru-RU"/>
              <a:t>Суворова Полина</a:t>
            </a:r>
            <a:endParaRPr lang="ru-RU"/>
          </a:p>
          <a:p>
            <a:pPr algn="l">
              <a:defRPr sz="1600" b="0">
                <a:solidFill>
                  <a:srgbClr val="E8E3DD"/>
                </a:solidFill>
                <a:latin typeface="Arial" panose="020B0604020202020204"/>
              </a:defRPr>
            </a:pPr>
            <a:r>
              <a:rPr lang="ru-RU"/>
              <a:t>ИТ-9, 2025</a:t>
            </a:r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ial" panose="020B0604020202020204"/>
              </a:defRPr>
            </a:pPr>
            <a:r>
              <a:t>ПОСТАНОВКА ЗАДАЧ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0972800" cy="91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 panose="020B0604020202020204"/>
              </a:defRPr>
            </a:pPr>
            <a:r>
              <a:t>Задача 4 — генерация кода вычислительной машины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Arial" panose="020B0604020202020204"/>
              </a:defRPr>
            </a:pPr>
            <a:r>
              <a:t>• Абстрактная машина имеет один регистр.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Arial" panose="020B0604020202020204"/>
              </a:defRPr>
            </a:pPr>
            <a:r>
              <a:t>• Доступные команды: LD (загрузить), ST (сохранить), AD (сложить), SB (вычесть), ML (умножить), DV (разделить).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Arial" panose="020B0604020202020204"/>
              </a:defRPr>
            </a:pPr>
            <a:r>
              <a:t>• Входные данные — постфиксное выражение из однобуквенных переменных и операций +, −, *, /.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Arial" panose="020B0604020202020204"/>
              </a:defRPr>
            </a:pPr>
            <a:r>
              <a:t>• Требуется вывести последовательность инструкций машины, результат последней операции остаётся в регистре.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Arial" panose="020B0604020202020204"/>
              </a:defRPr>
            </a:pPr>
            <a:r>
              <a:t>• Промежуточные результаты сохраняются во временных переменных T1, T2, T3 и т.д.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 panose="020B0604020202020204"/>
              </a:defRPr>
            </a:pPr>
            <a:r>
              <a:t>Задача 20 — дерево выражений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Arial" panose="020B0604020202020204"/>
              </a:defRPr>
            </a:pPr>
            <a:r>
              <a:t>• Входные данные — инфиксное выражение с числами, переменными, скобками, унарным минусом.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Arial" panose="020B0604020202020204"/>
              </a:defRPr>
            </a:pPr>
            <a:r>
              <a:t>• Необходимо: преобразовать в постфикс, построить дерево, вычислить по значениям переменных, упростить.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Arial" panose="020B0604020202020204"/>
              </a:defRPr>
            </a:pPr>
            <a:r>
              <a:t>• Максимальная вложенность скобок — 10.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Arial" panose="020B0604020202020204"/>
              </a:defRPr>
            </a:pPr>
            <a:r>
              <a:t>• Для реализации использовать собственные структуры данных.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4A4A"/>
                </a:solidFill>
                <a:latin typeface="Arial" panose="020B0604020202020204"/>
              </a:defRPr>
            </a:pPr>
            <a:r>
              <a:t>ЗАДАЧА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1A1A"/>
                </a:solidFill>
                <a:latin typeface="Arial" panose="020B0604020202020204"/>
              </a:defRPr>
            </a:pPr>
            <a:r>
              <a:t>Алгоритм генерации кода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097280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Arial" panose="020B0604020202020204"/>
              </a:defRPr>
            </a:pPr>
            <a:r>
              <a:t>• Постфиксное выражение читается символ за символом.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Arial" panose="020B0604020202020204"/>
              </a:defRPr>
            </a:pPr>
            <a:r>
              <a:t>• Операнды (однобуквенные переменные) приводятся к верхнему регистру и помещаются в стек.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Arial" panose="020B0604020202020204"/>
              </a:defRPr>
            </a:pPr>
            <a:r>
              <a:t>• При встрече операции из стека извлекаются два операнда: сначала правый, затем левый.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Arial" panose="020B0604020202020204"/>
              </a:defRPr>
            </a:pPr>
            <a:r>
              <a:t>• Для них генерируются команды: LD &lt;левый&gt; и &lt;команда операции&gt; &lt;правый&gt;.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Arial" panose="020B0604020202020204"/>
              </a:defRPr>
            </a:pPr>
            <a:r>
              <a:t>• Таблица соответствия операций: + → AD, − → SB, * → ML, / → DV.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Arial" panose="020B0604020202020204"/>
              </a:defRPr>
            </a:pPr>
            <a:r>
              <a:t>• Если операция не последняя, результат сохраняется в Tn командой ST Tn, имя Tn кладётся в стек.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Arial" panose="020B0604020202020204"/>
              </a:defRPr>
            </a:pPr>
            <a:r>
              <a:t>• Последняя операция не сохраняет результат — он остаётся в регистре.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  <a:latin typeface="Arial" panose="020B0604020202020204"/>
              </a:defRPr>
            </a:pPr>
            <a:r>
              <a:t>• Проверяются ошибки: нехватка операндов, лишние символы, некорректное выражение.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4A4A"/>
                </a:solidFill>
                <a:latin typeface="Arial" panose="020B0604020202020204"/>
              </a:defRPr>
            </a:pPr>
            <a:r>
              <a:t>ЗАДАЧА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1A1A"/>
                </a:solidFill>
                <a:latin typeface="Arial" panose="020B0604020202020204"/>
              </a:defRPr>
            </a:pPr>
            <a:r>
              <a:t>Пример работы: ABC*+DE-/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097280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2286000" cy="411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1ED"/>
                </a:solidFill>
                <a:latin typeface="Arial" panose="020B0604020202020204"/>
              </a:defRPr>
            </a:pPr>
            <a:r>
              <a:t>Шаг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103120"/>
            <a:ext cx="3657600" cy="411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1ED"/>
                </a:solidFill>
                <a:latin typeface="Arial" panose="020B0604020202020204"/>
              </a:defRPr>
            </a:pPr>
            <a:r>
              <a:t>Стек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2103120"/>
            <a:ext cx="4846320" cy="411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1ED"/>
                </a:solidFill>
                <a:latin typeface="Arial" panose="020B0604020202020204"/>
              </a:defRPr>
            </a:pPr>
            <a:r>
              <a:t>Сгенерированные команды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A, B,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6060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[A, B, C]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06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Arial" panose="020B0604020202020204"/>
              </a:defRPr>
            </a:pPr>
            <a: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0895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10895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[A, T1]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10895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Arial" panose="020B0604020202020204"/>
              </a:defRPr>
            </a:pPr>
            <a:r>
              <a:t>LD B; ML C; ST T1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1187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61187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[T2]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61187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Arial" panose="020B0604020202020204"/>
              </a:defRPr>
            </a:pPr>
            <a:r>
              <a:t>LD A; AD T1; ST T2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1479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D, 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11479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[T2, D, 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11479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Arial" panose="020B0604020202020204"/>
              </a:defRPr>
            </a:pPr>
            <a: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177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6177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[T2, T3]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6177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Arial" panose="020B0604020202020204"/>
              </a:defRPr>
            </a:pPr>
            <a:r>
              <a:t>LD D; SB E; ST T3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206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1206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результат в регистре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1206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Arial" panose="020B0604020202020204"/>
              </a:defRPr>
            </a:pPr>
            <a:r>
              <a:t>LD T2; DV T3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4A4A"/>
                </a:solidFill>
                <a:latin typeface="Arial" panose="020B0604020202020204"/>
              </a:defRPr>
            </a:pPr>
            <a:r>
              <a:t>ЗАДАЧА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1A1A"/>
                </a:solidFill>
                <a:latin typeface="Arial" panose="020B0604020202020204"/>
              </a:defRPr>
            </a:pPr>
            <a:r>
              <a:t>Этапы решения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097280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365760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5F1ED"/>
                </a:solidFill>
                <a:latin typeface="Arial" panose="020B0604020202020204"/>
              </a:defRPr>
            </a:pPr>
            <a:r>
              <a:t>1. Инфикс → постфикс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10312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Arial" panose="020B0604020202020204"/>
              </a:defRPr>
            </a:pPr>
            <a:r>
              <a:t>Алгоритм сортировочной станции. Операнды в выход, операции в стек по приоритету, скобки управляют порядком, унарный минус кодируется как 'u-'.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63239"/>
            <a:ext cx="365760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5F1ED"/>
                </a:solidFill>
                <a:latin typeface="Arial" panose="020B0604020202020204"/>
              </a:defRPr>
            </a:pPr>
            <a:r>
              <a:t>2. Постфикс → дерево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63239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Arial" panose="020B0604020202020204"/>
              </a:defRPr>
            </a:pPr>
            <a:r>
              <a:t>Стек узлов. Операнды — листья. Бинарная операция связывает правый и левый узел. Унарный минус — один ребёнок. В конце в стеке корень.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59"/>
            <a:ext cx="365760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5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5F1ED"/>
                </a:solidFill>
                <a:latin typeface="Arial" panose="020B0604020202020204"/>
              </a:defRPr>
            </a:pPr>
            <a:r>
              <a:t>3. Вычисление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023359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Arial" panose="020B0604020202020204"/>
              </a:defRPr>
            </a:pPr>
            <a:r>
              <a:t>Рекурсивный обход. Листья возвращают числа или значения переменных. Внутренние узлы применяют операцию к детям.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83479"/>
            <a:ext cx="365760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98347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5F1ED"/>
                </a:solidFill>
                <a:latin typeface="Arial" panose="020B0604020202020204"/>
              </a:defRPr>
            </a:pPr>
            <a:r>
              <a:t>4. Упрощение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983479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Arial" panose="020B0604020202020204"/>
              </a:defRPr>
            </a:pPr>
            <a:r>
              <a:t>Обход снизу вверх. Применяются правила: 0+x=x, x+0=x, x−0=x, 0−x=−x, 0*x=0, 1*x=x, x*1=x, x/1=x, 0/x=0.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4A4A"/>
                </a:solidFill>
                <a:latin typeface="Arial" panose="020B0604020202020204"/>
              </a:defRPr>
            </a:pPr>
            <a:r>
              <a:t>ЗАДАЧА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ial" panose="020B0604020202020204"/>
              </a:defRPr>
            </a:pPr>
            <a:r>
              <a:t>Пример работы: (a + b) * c − 5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097280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3383280" cy="1280160"/>
          </a:xfrm>
          <a:prstGeom prst="rect">
            <a:avLst/>
          </a:prstGeom>
          <a:solidFill>
            <a:srgbClr val="E8E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1A"/>
                </a:solidFill>
                <a:latin typeface="Arial" panose="020B0604020202020204"/>
              </a:defRPr>
            </a:pPr>
            <a:r>
              <a:t>Инфикс:</a:t>
            </a:r>
            <a:br/>
            <a:r>
              <a:t>(a + b) * c − 5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103120"/>
            <a:ext cx="3383280" cy="1280160"/>
          </a:xfrm>
          <a:prstGeom prst="rect">
            <a:avLst/>
          </a:prstGeom>
          <a:solidFill>
            <a:srgbClr val="E8E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1031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1A"/>
                </a:solidFill>
                <a:latin typeface="Arial" panose="020B0604020202020204"/>
              </a:defRPr>
            </a:pPr>
            <a:r>
              <a:t>Постфикс:</a:t>
            </a:r>
            <a:br/>
            <a:r>
              <a:t>a b + c * 5 −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103120"/>
            <a:ext cx="3383280" cy="1280160"/>
          </a:xfrm>
          <a:prstGeom prst="rect">
            <a:avLst/>
          </a:prstGeom>
          <a:solidFill>
            <a:srgbClr val="E8E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1A"/>
                </a:solidFill>
                <a:latin typeface="Arial" panose="020B0604020202020204"/>
              </a:defRPr>
            </a:pPr>
            <a:r>
              <a:t>Дерево:</a:t>
            </a:r>
            <a:br/>
            <a:r>
              <a:t>(((a + b) * c) − 5)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Arial" panose="020B0604020202020204"/>
              </a:defRPr>
            </a:pPr>
            <a:r>
              <a:t>Вычисление при a=2, b=3, c=4: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  <a:latin typeface="Arial" panose="020B0604020202020204"/>
              </a:defRPr>
            </a:pPr>
            <a:r>
              <a:t>• (a + b) = 2 + 3 = 5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  <a:latin typeface="Arial" panose="020B0604020202020204"/>
              </a:defRPr>
            </a:pPr>
            <a:r>
              <a:t>• (a + b) * c = 5 * 4 = 20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  <a:latin typeface="Arial" panose="020B0604020202020204"/>
              </a:defRPr>
            </a:pPr>
            <a:r>
              <a:t>• ((a + b) * c) − 5 = 20 − 5 =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ial" panose="020B0604020202020204"/>
              </a:defRPr>
            </a:pPr>
            <a:r>
              <a:t>АРХИТЕКТУРА 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097280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256032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1ED"/>
                </a:solidFill>
                <a:latin typeface="Arial" panose="020B0604020202020204"/>
              </a:defRPr>
            </a:pPr>
            <a:r>
              <a:t>main.py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645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Точка входа. Циклическое консольное меню с выбором задачи. Защита от некорректного ввода пункта меню.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256032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1ED"/>
                </a:solidFill>
                <a:latin typeface="Arial" panose="020B0604020202020204"/>
              </a:defRPr>
            </a:pPr>
            <a:r>
              <a:t>task4.py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606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Логика задачи 4. Функция generate_machine_code строит инструкции машины. run_task4 организует ввод и повтор при ошибках.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256032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1ED"/>
                </a:solidFill>
                <a:latin typeface="Arial" panose="020B0604020202020204"/>
              </a:defRPr>
            </a:pPr>
            <a:r>
              <a:t>task20.py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566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Логика задачи 20. infix_to_postfix, build_expression_tree, evaluate_tree, simplify_tree, tree_to_infix.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26280"/>
            <a:ext cx="256032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526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1ED"/>
                </a:solidFill>
                <a:latin typeface="Arial" panose="020B0604020202020204"/>
              </a:defRPr>
            </a:pPr>
            <a:r>
              <a:t>structures.py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5262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Собственные классы Stack и TreeNode. Стек реализован на списке, узел дерева содержит value, left, right.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4A4A"/>
                </a:solidFill>
                <a:latin typeface="Arial" panose="020B0604020202020204"/>
              </a:defRPr>
            </a:pPr>
            <a:r>
              <a:t>ДЕМОНСТРАЦИЯ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ial" panose="020B0604020202020204"/>
              </a:defRPr>
            </a:pPr>
            <a:r>
              <a:t>Задача 4 в работе</a:t>
            </a:r>
          </a:p>
        </p:txBody>
      </p:sp>
      <p:pic>
        <p:nvPicPr>
          <p:cNvPr id="4" name="Picture 3" descr="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780" y="1652270"/>
            <a:ext cx="7180580" cy="4782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4A4A"/>
                </a:solidFill>
                <a:latin typeface="Arial" panose="020B0604020202020204"/>
              </a:defRPr>
            </a:pPr>
            <a:r>
              <a:t>ДЕМОНСТРАЦИЯ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ial" panose="020B0604020202020204"/>
              </a:defRPr>
            </a:pPr>
            <a:r>
              <a:t>Задача 20 в работе</a:t>
            </a:r>
          </a:p>
        </p:txBody>
      </p:sp>
      <p:pic>
        <p:nvPicPr>
          <p:cNvPr id="4" name="Picture 3" descr="2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6930"/>
            <a:ext cx="10332720" cy="28862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ial" panose="020B0604020202020204"/>
              </a:defRPr>
            </a:pPr>
            <a:r>
              <a:t>ЗАЩИТА И ТЕСТИРОВАНИЕ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097280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 panose="020B0604020202020204"/>
              </a:defRPr>
            </a:pPr>
            <a:r>
              <a:t>Защита от ошибок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Arial" panose="020B0604020202020204"/>
              </a:defRPr>
            </a:pPr>
            <a:r>
              <a:t>• Пустой ввод не допускается.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Arial" panose="020B0604020202020204"/>
              </a:defRPr>
            </a:pPr>
            <a:r>
              <a:t>• Некорректное постфиксное выражение вызывает сообщение об ошибке и повторный ввод.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Arial" panose="020B0604020202020204"/>
              </a:defRPr>
            </a:pPr>
            <a:r>
              <a:t>• Некорректное инфиксное выражение (лишние операции, непарные скобки) ловится на этапе проверки.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Arial" panose="020B0604020202020204"/>
              </a:defRPr>
            </a:pPr>
            <a:r>
              <a:t>• Ошибки в значениях переменных предлагают ввести заново.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 panose="020B0604020202020204"/>
              </a:defRPr>
            </a:pPr>
            <a:r>
              <a:t>Тестирование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011680"/>
            <a:ext cx="2560320" cy="2194560"/>
          </a:xfrm>
          <a:prstGeom prst="rect">
            <a:avLst/>
          </a:prstGeom>
          <a:solidFill>
            <a:srgbClr val="E8E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2560320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Задача 4:</a:t>
            </a:r>
          </a:p>
          <a:p>
            <a:pPr algn="l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br/>
            <a:r>
              <a:t>ABC*+DE-/</a:t>
            </a:r>
            <a:br/>
            <a:r>
              <a:t>ab+</a:t>
            </a:r>
            <a:br/>
            <a:r>
              <a:t>xy*</a:t>
            </a:r>
            <a:br/>
            <a:r>
              <a:t>ab+c*</a:t>
            </a:r>
            <a:br/>
            <a:r>
              <a:t>ошибка a+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2011680"/>
            <a:ext cx="2560320" cy="2194560"/>
          </a:xfrm>
          <a:prstGeom prst="rect">
            <a:avLst/>
          </a:prstGeom>
          <a:solidFill>
            <a:srgbClr val="E8E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011680"/>
            <a:ext cx="2560320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r>
              <a:t>Задача 20:</a:t>
            </a:r>
          </a:p>
          <a:p>
            <a:pPr algn="l">
              <a:defRPr sz="1400" b="0">
                <a:solidFill>
                  <a:srgbClr val="1A1A1A"/>
                </a:solidFill>
                <a:latin typeface="Arial" panose="020B0604020202020204"/>
              </a:defRPr>
            </a:pPr>
            <a:br/>
            <a:r>
              <a:t>a + b * c</a:t>
            </a:r>
            <a:br/>
            <a:r>
              <a:t>(a + b) * c</a:t>
            </a:r>
            <a:br/>
            <a:r>
              <a:t>-a + 5</a:t>
            </a:r>
            <a:br/>
            <a:r>
              <a:t>3 * (-b)</a:t>
            </a:r>
            <a:br/>
            <a:r>
              <a:t>0 + x * 1 → 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29200"/>
            <a:ext cx="1097280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F1ED"/>
                </a:solidFill>
                <a:latin typeface="Arial" panose="020B0604020202020204"/>
              </a:defRPr>
            </a:pPr>
            <a:r>
              <a:t>Все тесты пройдены корректно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4A4A"/>
                </a:solidFill>
                <a:latin typeface="Arial" panose="020B0604020202020204"/>
              </a:defRPr>
            </a:pPr>
            <a: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Arial" panose="020B0604020202020204"/>
              </a:defRPr>
            </a:pPr>
            <a:r>
              <a:t>Результат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097280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  <a:latin typeface="Arial" panose="020B0604020202020204"/>
              </a:defRPr>
            </a:pPr>
            <a:r>
              <a:t>• Реализованы обе задачи (4 и 20) в рамках одного проекта на Python.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  <a:latin typeface="Arial" panose="020B0604020202020204"/>
              </a:defRPr>
            </a:pPr>
            <a:r>
              <a:t>• Использованы собственные структуры данных: стек Stack и узел дерева TreeNode.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  <a:latin typeface="Arial" panose="020B0604020202020204"/>
              </a:defRPr>
            </a:pPr>
            <a:r>
              <a:t>• Программа имеет циклическое меню, модульную архитектуру и защиту ввода.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  <a:latin typeface="Arial" panose="020B0604020202020204"/>
              </a:defRPr>
            </a:pPr>
            <a:r>
              <a:t>• Для задачи 20 реализованы все этапы: постфикс, дерево, вычисление, упрощение.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  <a:latin typeface="Arial" panose="020B0604020202020204"/>
              </a:defRPr>
            </a:pPr>
            <a:r>
              <a:t>• Код соответствует требованиям readme и критериям оценивания ИКМ.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  <a:latin typeface="Arial" panose="020B0604020202020204"/>
              </a:defRPr>
            </a:pPr>
            <a:r>
              <a:t>• Проект может быть расширен: добавление новых операций, поддержка многобуквенных переменных, графический интерфейс.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4044</Words>
  <Application>WPS Presentation</Application>
  <PresentationFormat>On-screen Show (4:3)</PresentationFormat>
  <Paragraphs>177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exlain</cp:lastModifiedBy>
  <cp:revision>3</cp:revision>
  <dcterms:created xsi:type="dcterms:W3CDTF">2013-01-27T09:14:00Z</dcterms:created>
  <dcterms:modified xsi:type="dcterms:W3CDTF">2026-06-18T20:41:15Z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1049-12.1.0.26880</vt:lpwstr>
  </property>
  <property fmtid="{D5CDD505-2E9C-101B-9397-08002B2CF9AE}" pid="3" name="ICV">
    <vt:lpwstr>D4839B4F2461421AB5A2ED53D78C99B1_12</vt:lpwstr>
  </property>
</Properties>
</file>